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8572500" cy="121253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6" d="100"/>
          <a:sy n="36" d="100"/>
        </p:scale>
        <p:origin x="-2200" y="-68"/>
      </p:cViewPr>
      <p:guideLst>
        <p:guide orient="horz" pos="3819"/>
        <p:guide pos="27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bracketed fields are editable placeholders. Topic basis: Bharti et al. (2019), Environmental Research 171, 356–364. DOI: 10.1016/j.envres.2019.01.051.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source: Bharti V, Vikrant K, Goswami M, et al. Biodegradation of methylene blue dye in a batch and continuous mode using biochar as packing media. Environmental Research. 2019;171:356–364. DOI: 10.1016/j.envres.2019.01.051. Study values used on slide: 96.2% batch removal under optimized conditions (30°C, 150 ppm, 5 days); 87% packed-bed removal at 500 ppm over 10 days; Casuarina seed biochar reusable five times. Background review: Ajiboye et al., Environmental Chemistry and Ecotoxicology 4 (2022) 242–259.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pes.ac.in/about-u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6173F33B-FBD3-4AA6-96A5-1241899316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00" cy="209550"/>
          </a:xfrm>
          <a:prstGeom prst="rect">
            <a:avLst/>
          </a:prstGeom>
          <a:solidFill>
            <a:srgbClr val="145A3A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3941C38-4243-4C76-98DD-92DD3506AD8D}"/>
              </a:ext>
            </a:extLst>
          </p:cNvPr>
          <p:cNvSpPr>
            <a:spLocks noGrp="1"/>
          </p:cNvSpPr>
          <p:nvPr/>
        </p:nvSpPr>
        <p:spPr>
          <a:xfrm>
            <a:off x="0" y="10668000"/>
            <a:ext cx="8572500" cy="1457325"/>
          </a:xfrm>
          <a:prstGeom prst="rect">
            <a:avLst/>
          </a:prstGeom>
          <a:solidFill>
            <a:srgbClr val="145A3A"/>
          </a:solidFill>
          <a:ln w="0">
            <a:noFill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7A46F070-8393-456E-8D9F-31FCF2E75AF0}"/>
              </a:ext>
            </a:extLst>
          </p:cNvPr>
          <p:cNvSpPr>
            <a:spLocks noGrp="1"/>
          </p:cNvSpPr>
          <p:nvPr/>
        </p:nvSpPr>
        <p:spPr>
          <a:xfrm>
            <a:off x="5143500" y="1143000"/>
            <a:ext cx="3429000" cy="3429000"/>
          </a:xfrm>
          <a:prstGeom prst="ellipse">
            <a:avLst/>
          </a:prstGeom>
          <a:solidFill>
            <a:srgbClr val="DCEFF6"/>
          </a:solidFill>
          <a:ln w="0">
            <a:noFill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0C3A9A64-ED02-4DCE-89EE-6ADC4AF39D31}"/>
              </a:ext>
            </a:extLst>
          </p:cNvPr>
          <p:cNvSpPr>
            <a:spLocks noGrp="1"/>
          </p:cNvSpPr>
          <p:nvPr/>
        </p:nvSpPr>
        <p:spPr>
          <a:xfrm>
            <a:off x="6096000" y="1638300"/>
            <a:ext cx="2381250" cy="2381250"/>
          </a:xfrm>
          <a:prstGeom prst="ellipse">
            <a:avLst/>
          </a:prstGeom>
          <a:solidFill>
            <a:srgbClr val="61B5D9"/>
          </a:solidFill>
          <a:ln w="0">
            <a:noFill/>
          </a:ln>
        </p:spPr>
      </p:sp>
      <p:sp>
        <p:nvSpPr>
          <p:cNvPr id="5" name="Arc 4">
            <a:extLst>
              <a:ext uri="{FF2B5EF4-FFF2-40B4-BE49-F238E27FC236}">
                <a16:creationId xmlns:a16="http://schemas.microsoft.com/office/drawing/2014/main" xmlns="" id="{2B6D7DB6-6BC0-40C2-A23B-029D8184B2C4}"/>
              </a:ext>
            </a:extLst>
          </p:cNvPr>
          <p:cNvSpPr>
            <a:spLocks noGrp="1"/>
          </p:cNvSpPr>
          <p:nvPr/>
        </p:nvSpPr>
        <p:spPr>
          <a:xfrm>
            <a:off x="6724650" y="2009775"/>
            <a:ext cx="1571625" cy="2476500"/>
          </a:xfrm>
          <a:prstGeom prst="arc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xmlns="" id="{B5383007-DFA1-4ABC-B2B1-EE2FEA27DE80}"/>
              </a:ext>
            </a:extLst>
          </p:cNvPr>
          <p:cNvSpPr>
            <a:spLocks noGrp="1"/>
          </p:cNvSpPr>
          <p:nvPr/>
        </p:nvSpPr>
        <p:spPr>
          <a:xfrm>
            <a:off x="6619875" y="2762250"/>
            <a:ext cx="1809750" cy="2952750"/>
          </a:xfrm>
          <a:prstGeom prst="trapezoid">
            <a:avLst/>
          </a:prstGeom>
          <a:solidFill>
            <a:srgbClr val="FFFFFF"/>
          </a:solidFill>
          <a:ln w="19050">
            <a:solidFill>
              <a:srgbClr val="145A3A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0757815-F449-4225-B781-CFD1B088478F}"/>
              </a:ext>
            </a:extLst>
          </p:cNvPr>
          <p:cNvSpPr>
            <a:spLocks noGrp="1"/>
          </p:cNvSpPr>
          <p:nvPr/>
        </p:nvSpPr>
        <p:spPr>
          <a:xfrm>
            <a:off x="7029450" y="2238375"/>
            <a:ext cx="9906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45A3A"/>
            </a:solidFill>
          </a:ln>
        </p:spPr>
      </p:sp>
      <p:sp>
        <p:nvSpPr>
          <p:cNvPr id="8" name="Arc 7">
            <a:extLst>
              <a:ext uri="{FF2B5EF4-FFF2-40B4-BE49-F238E27FC236}">
                <a16:creationId xmlns:a16="http://schemas.microsoft.com/office/drawing/2014/main" xmlns="" id="{1960BD4B-A321-4C5F-B554-F8662E7F2F20}"/>
              </a:ext>
            </a:extLst>
          </p:cNvPr>
          <p:cNvSpPr>
            <a:spLocks noGrp="1"/>
          </p:cNvSpPr>
          <p:nvPr/>
        </p:nvSpPr>
        <p:spPr>
          <a:xfrm>
            <a:off x="6810375" y="3581400"/>
            <a:ext cx="1428750" cy="1409700"/>
          </a:xfrm>
          <a:prstGeom prst="arc">
            <a:avLst/>
          </a:prstGeom>
          <a:solidFill>
            <a:srgbClr val="1267A8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xmlns="" id="{DFBCB169-ED64-48E1-9902-2CB9DDF64A31}"/>
              </a:ext>
            </a:extLst>
          </p:cNvPr>
          <p:cNvSpPr>
            <a:spLocks noGrp="1"/>
          </p:cNvSpPr>
          <p:nvPr/>
        </p:nvSpPr>
        <p:spPr>
          <a:xfrm>
            <a:off x="6953250" y="4095750"/>
            <a:ext cx="190500" cy="190500"/>
          </a:xfrm>
          <a:prstGeom prst="ellipse">
            <a:avLst/>
          </a:prstGeom>
          <a:solidFill>
            <a:srgbClr val="5A3C2B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76019BC-1312-4675-B454-123E6F52BFD9}"/>
              </a:ext>
            </a:extLst>
          </p:cNvPr>
          <p:cNvSpPr>
            <a:spLocks noGrp="1"/>
          </p:cNvSpPr>
          <p:nvPr/>
        </p:nvSpPr>
        <p:spPr>
          <a:xfrm>
            <a:off x="7258050" y="4333875"/>
            <a:ext cx="152400" cy="152400"/>
          </a:xfrm>
          <a:prstGeom prst="ellipse">
            <a:avLst/>
          </a:prstGeom>
          <a:solidFill>
            <a:srgbClr val="5A3C2B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2E09C8B8-11BA-4EBD-8627-4B7588E200D5}"/>
              </a:ext>
            </a:extLst>
          </p:cNvPr>
          <p:cNvSpPr>
            <a:spLocks noGrp="1"/>
          </p:cNvSpPr>
          <p:nvPr/>
        </p:nvSpPr>
        <p:spPr>
          <a:xfrm>
            <a:off x="7667625" y="4057650"/>
            <a:ext cx="209550" cy="209550"/>
          </a:xfrm>
          <a:prstGeom prst="ellipse">
            <a:avLst/>
          </a:prstGeom>
          <a:solidFill>
            <a:srgbClr val="5A3C2B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xmlns="" id="{8E008195-5524-42A8-A386-AF31A1C55103}"/>
              </a:ext>
            </a:extLst>
          </p:cNvPr>
          <p:cNvSpPr>
            <a:spLocks noGrp="1"/>
          </p:cNvSpPr>
          <p:nvPr/>
        </p:nvSpPr>
        <p:spPr>
          <a:xfrm>
            <a:off x="7972425" y="4362450"/>
            <a:ext cx="142875" cy="142875"/>
          </a:xfrm>
          <a:prstGeom prst="ellipse">
            <a:avLst/>
          </a:prstGeom>
          <a:solidFill>
            <a:srgbClr val="5A3C2B"/>
          </a:solidFill>
          <a:ln w="0">
            <a:noFill/>
          </a:ln>
        </p:spPr>
      </p:sp>
      <p:sp>
        <p:nvSpPr>
          <p:cNvPr id="13" name="Teardrop 12">
            <a:extLst>
              <a:ext uri="{FF2B5EF4-FFF2-40B4-BE49-F238E27FC236}">
                <a16:creationId xmlns:a16="http://schemas.microsoft.com/office/drawing/2014/main" xmlns="" id="{73E89799-D99B-4067-842A-214A09D486F2}"/>
              </a:ext>
            </a:extLst>
          </p:cNvPr>
          <p:cNvSpPr>
            <a:spLocks noGrp="1"/>
          </p:cNvSpPr>
          <p:nvPr/>
        </p:nvSpPr>
        <p:spPr>
          <a:xfrm rot="-2100000">
            <a:off x="590550" y="838200"/>
            <a:ext cx="404813" cy="654844"/>
          </a:xfrm>
          <a:prstGeom prst="teardrop">
            <a:avLst/>
          </a:prstGeom>
          <a:solidFill>
            <a:srgbClr val="2F7D4A"/>
          </a:solidFill>
          <a:ln w="0">
            <a:noFill/>
          </a:ln>
        </p:spPr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xmlns="" id="{8E964383-40F7-40C6-AEF2-CCC9A3AA4310}"/>
              </a:ext>
            </a:extLst>
          </p:cNvPr>
          <p:cNvSpPr>
            <a:spLocks noGrp="1"/>
          </p:cNvSpPr>
          <p:nvPr/>
        </p:nvSpPr>
        <p:spPr>
          <a:xfrm>
            <a:off x="721519" y="1195388"/>
            <a:ext cx="357188" cy="261938"/>
          </a:xfrm>
          <a:prstGeom prst="line">
            <a:avLst/>
          </a:prstGeom>
          <a:noFill/>
          <a:ln w="19050">
            <a:solidFill>
              <a:srgbClr val="F7F3E8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00FCD1F-9B81-46D5-8BDD-A6385AD62E2E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4857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0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ENVIRONMENTAL POLLUTION TREATMENT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4EBE0A7-D53E-4286-9FE1-F13D664A821B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5572125" cy="2476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5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Treatment of</a:t>
            </a:r>
          </a:p>
          <a:p>
            <a:pPr algn="l">
              <a:defRPr sz="35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Methylene Blue Dye</a:t>
            </a:r>
          </a:p>
          <a:p>
            <a:pPr algn="l">
              <a:defRPr sz="35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Using Biochar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B9BE414C-B3D9-490B-8AD0-F6A2626B7E24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8577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56635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6635E"/>
                </a:solidFill>
                <a:latin typeface="DejaVu Sans"/>
                <a:ea typeface="DejaVu Sans"/>
                <a:cs typeface="DejaVu Sans"/>
              </a:rPr>
              <a:t>A biosorptive approach combining adsorption and bacterial biodegradation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xmlns="" id="{52CF2173-C2FA-4382-84D9-0B29A4BCE40E}"/>
              </a:ext>
            </a:extLst>
          </p:cNvPr>
          <p:cNvSpPr>
            <a:spLocks noGrp="1"/>
          </p:cNvSpPr>
          <p:nvPr/>
        </p:nvSpPr>
        <p:spPr>
          <a:xfrm>
            <a:off x="642912" y="5205406"/>
            <a:ext cx="7239000" cy="3905250"/>
          </a:xfrm>
          <a:prstGeom prst="roundRect">
            <a:avLst>
              <a:gd name="adj" fmla="val 5854"/>
            </a:avLst>
          </a:prstGeom>
          <a:solidFill>
            <a:srgbClr val="FFFCF5"/>
          </a:solidFill>
          <a:ln w="19050">
            <a:solidFill>
              <a:srgbClr val="D4DCC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10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933C5AB-BA33-4B10-86A8-BE0396827F7A}"/>
              </a:ext>
            </a:extLst>
          </p:cNvPr>
          <p:cNvSpPr>
            <a:spLocks noGrp="1"/>
          </p:cNvSpPr>
          <p:nvPr/>
        </p:nvSpPr>
        <p:spPr>
          <a:xfrm>
            <a:off x="1009650" y="5205406"/>
            <a:ext cx="2047875" cy="35719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PREPARED BY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596C9E8D-9C91-42DA-8799-8B2F83F7DE04}"/>
              </a:ext>
            </a:extLst>
          </p:cNvPr>
          <p:cNvSpPr>
            <a:spLocks noGrp="1"/>
          </p:cNvSpPr>
          <p:nvPr/>
        </p:nvSpPr>
        <p:spPr>
          <a:xfrm>
            <a:off x="1009650" y="5205406"/>
            <a:ext cx="2857500" cy="38576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1*PRATHAM 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SAP ID-590032424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endParaRPr sz="1575" b="0">
              <a:solidFill>
                <a:schemeClr val="tx1">
                  <a:lumMod val="95000"/>
                  <a:lumOff val="5000"/>
                </a:schemeClr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2*TEJASHVI PUNDIR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SAP ID-590037087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endParaRPr sz="1575" b="0">
              <a:solidFill>
                <a:schemeClr val="tx1">
                  <a:lumMod val="95000"/>
                  <a:lumOff val="5000"/>
                </a:schemeClr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3*HIMANSHU SHARMA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SAP ID-590034673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endParaRPr lang="en-US" sz="1575" b="0" dirty="0" smtClean="0">
              <a:solidFill>
                <a:schemeClr val="tx1">
                  <a:lumMod val="95000"/>
                  <a:lumOff val="5000"/>
                </a:schemeClr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4*ABHINAV SHARMA</a:t>
            </a: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DejaVu Sans"/>
                <a:ea typeface="DejaVu Sans"/>
                <a:cs typeface="DejaVu Sans"/>
              </a:rPr>
              <a:t>SAP ID-590034549</a:t>
            </a:r>
            <a:endParaRPr lang="en-US" sz="1575" b="0" dirty="0" smtClean="0">
              <a:solidFill>
                <a:schemeClr val="tx1">
                  <a:lumMod val="95000"/>
                  <a:lumOff val="5000"/>
                </a:schemeClr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endParaRPr sz="1575" b="0">
              <a:solidFill>
                <a:srgbClr val="202C28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endParaRPr sz="1575" b="0">
              <a:solidFill>
                <a:srgbClr val="202C2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F61FA096-B995-40C3-821F-36CDF613114C}"/>
              </a:ext>
            </a:extLst>
          </p:cNvPr>
          <p:cNvSpPr>
            <a:spLocks noGrp="1"/>
          </p:cNvSpPr>
          <p:nvPr/>
        </p:nvSpPr>
        <p:spPr>
          <a:xfrm>
            <a:off x="4686300" y="5524500"/>
            <a:ext cx="2047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SUBMITTED TO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37B9CA7B-ED43-4B6B-B729-D517EECF0C7D}"/>
              </a:ext>
            </a:extLst>
          </p:cNvPr>
          <p:cNvSpPr>
            <a:spLocks noGrp="1"/>
          </p:cNvSpPr>
          <p:nvPr/>
        </p:nvSpPr>
        <p:spPr>
          <a:xfrm>
            <a:off x="4686300" y="5705472"/>
            <a:ext cx="2571750" cy="128588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767"/>
          </a:bodyPr>
          <a:lstStyle/>
          <a:p>
            <a:pPr algn="l">
              <a:defRPr sz="15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400" dirty="0" smtClean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Dr. BALENDU SHEKAR GIRI</a:t>
            </a:r>
            <a:endParaRPr sz="1400" b="0">
              <a:solidFill>
                <a:srgbClr val="202C2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xmlns="" id="{9FE4B0EC-9A0B-483A-8135-0F17374737B9}"/>
              </a:ext>
            </a:extLst>
          </p:cNvPr>
          <p:cNvSpPr>
            <a:spLocks noGrp="1"/>
          </p:cNvSpPr>
          <p:nvPr/>
        </p:nvSpPr>
        <p:spPr>
          <a:xfrm>
            <a:off x="4286250" y="5476875"/>
            <a:ext cx="9525" cy="3143250"/>
          </a:xfrm>
          <a:prstGeom prst="line">
            <a:avLst/>
          </a:prstGeom>
          <a:noFill/>
          <a:ln w="19050">
            <a:solidFill>
              <a:srgbClr val="C8D3C7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D264081-43B5-4E29-A466-6B0F610E8DF4}"/>
              </a:ext>
            </a:extLst>
          </p:cNvPr>
          <p:cNvSpPr>
            <a:spLocks noGrp="1"/>
          </p:cNvSpPr>
          <p:nvPr/>
        </p:nvSpPr>
        <p:spPr>
          <a:xfrm>
            <a:off x="714350" y="8134364"/>
            <a:ext cx="3357586" cy="9286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COURSE / </a:t>
            </a:r>
            <a:r>
              <a:rPr sz="1050" b="1" smtClean="0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SUBJECT</a:t>
            </a:r>
            <a:endParaRPr lang="en-US" sz="1050" b="1" dirty="0" smtClean="0">
              <a:solidFill>
                <a:srgbClr val="2F7D4A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050" b="1" dirty="0"/>
              <a:t>Environment Sustainability &amp; Climate Change_Sem1</a:t>
            </a:r>
          </a:p>
          <a:p>
            <a:pPr algn="l"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endParaRPr lang="en-US" sz="1050" b="1" dirty="0">
              <a:solidFill>
                <a:srgbClr val="2F7D4A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A1E201B2-38BB-4A02-A849-2FFFED220EFC}"/>
              </a:ext>
            </a:extLst>
          </p:cNvPr>
          <p:cNvSpPr>
            <a:spLocks noGrp="1"/>
          </p:cNvSpPr>
          <p:nvPr/>
        </p:nvSpPr>
        <p:spPr>
          <a:xfrm>
            <a:off x="928664" y="8134364"/>
            <a:ext cx="2857500" cy="92869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endParaRPr sz="1425" b="0">
              <a:solidFill>
                <a:srgbClr val="202C2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D4B32A42-988D-443D-9732-99C2A767098A}"/>
              </a:ext>
            </a:extLst>
          </p:cNvPr>
          <p:cNvSpPr>
            <a:spLocks noGrp="1"/>
          </p:cNvSpPr>
          <p:nvPr/>
        </p:nvSpPr>
        <p:spPr>
          <a:xfrm>
            <a:off x="4686300" y="7124700"/>
            <a:ext cx="2047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ACADEMIC SESSION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301E8551-25B1-4CEB-9043-62677FCD5E3C}"/>
              </a:ext>
            </a:extLst>
          </p:cNvPr>
          <p:cNvSpPr>
            <a:spLocks noGrp="1"/>
          </p:cNvSpPr>
          <p:nvPr/>
        </p:nvSpPr>
        <p:spPr>
          <a:xfrm>
            <a:off x="4686300" y="7467600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2026–27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B7AB876A-1C67-4F23-88FC-1BD6FF15161F}"/>
              </a:ext>
            </a:extLst>
          </p:cNvPr>
          <p:cNvSpPr>
            <a:spLocks noGrp="1"/>
          </p:cNvSpPr>
          <p:nvPr/>
        </p:nvSpPr>
        <p:spPr>
          <a:xfrm>
            <a:off x="4686300" y="8001000"/>
            <a:ext cx="2047875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SUBMISSION DATE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3F33326E-D43E-43A5-8512-646D3A3F7479}"/>
              </a:ext>
            </a:extLst>
          </p:cNvPr>
          <p:cNvSpPr>
            <a:spLocks noGrp="1"/>
          </p:cNvSpPr>
          <p:nvPr/>
        </p:nvSpPr>
        <p:spPr>
          <a:xfrm>
            <a:off x="4686300" y="8343900"/>
            <a:ext cx="238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dirty="0" smtClean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28 </a:t>
            </a:r>
            <a:r>
              <a:rPr sz="1500" b="0" smtClean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September </a:t>
            </a:r>
            <a:r>
              <a:rPr sz="150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2026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93DFDA6F-9271-4632-9AF5-718EEA9B173B}"/>
              </a:ext>
            </a:extLst>
          </p:cNvPr>
          <p:cNvSpPr>
            <a:spLocks noGrp="1"/>
          </p:cNvSpPr>
          <p:nvPr/>
        </p:nvSpPr>
        <p:spPr>
          <a:xfrm>
            <a:off x="523875" y="10953750"/>
            <a:ext cx="7524750" cy="40005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 fontScale="96428"/>
          </a:bodyPr>
          <a:lstStyle/>
          <a:p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00" u="sng" dirty="0">
                <a:hlinkClick r:id="rId3"/>
              </a:rPr>
              <a:t>University of Petroleum and Energy Studies</a:t>
            </a:r>
            <a:endParaRPr sz="2100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FA29C4BF-0577-4225-A0A7-016510A31516}"/>
              </a:ext>
            </a:extLst>
          </p:cNvPr>
          <p:cNvSpPr>
            <a:spLocks noGrp="1"/>
          </p:cNvSpPr>
          <p:nvPr/>
        </p:nvSpPr>
        <p:spPr>
          <a:xfrm>
            <a:off x="523875" y="11382375"/>
            <a:ext cx="7524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0">
                <a:solidFill>
                  <a:srgbClr val="DCE8D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CE8DF"/>
                </a:solidFill>
                <a:latin typeface="DejaVu Sans"/>
                <a:ea typeface="DejaVu Sans"/>
                <a:cs typeface="DejaVu Sans"/>
              </a:rPr>
              <a:t>[</a:t>
            </a:r>
            <a:r>
              <a:rPr sz="1200" b="0" smtClean="0">
                <a:solidFill>
                  <a:srgbClr val="DCE8DF"/>
                </a:solidFill>
                <a:latin typeface="DejaVu Sans"/>
                <a:ea typeface="DejaVu Sans"/>
                <a:cs typeface="DejaVu Sans"/>
              </a:rPr>
              <a:t>School</a:t>
            </a:r>
            <a:r>
              <a:rPr lang="en-US" sz="1200" dirty="0">
                <a:solidFill>
                  <a:srgbClr val="DCE8D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en-US" sz="1200" dirty="0" smtClean="0">
                <a:solidFill>
                  <a:srgbClr val="DCE8DF"/>
                </a:solidFill>
                <a:latin typeface="DejaVu Sans"/>
                <a:ea typeface="DejaVu Sans"/>
                <a:cs typeface="DejaVu Sans"/>
              </a:rPr>
              <a:t>of computer sciences]</a:t>
            </a:r>
            <a:endParaRPr sz="1200" b="0">
              <a:solidFill>
                <a:srgbClr val="DCE8D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30023889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xmlns="" id="{0395C851-C532-4534-BCB8-A75F6649F2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00" cy="1381125"/>
          </a:xfrm>
          <a:prstGeom prst="rect">
            <a:avLst/>
          </a:prstGeom>
          <a:solidFill>
            <a:srgbClr val="145A3A"/>
          </a:solidFill>
          <a:ln w="0">
            <a:noFill/>
          </a:ln>
        </p:spPr>
      </p:sp>
      <p:sp>
        <p:nvSpPr>
          <p:cNvPr id="2" name="Teardrop 1">
            <a:extLst>
              <a:ext uri="{FF2B5EF4-FFF2-40B4-BE49-F238E27FC236}">
                <a16:creationId xmlns:a16="http://schemas.microsoft.com/office/drawing/2014/main" xmlns="" id="{11BE6635-1611-4D40-A3D8-909092F6CEE0}"/>
              </a:ext>
            </a:extLst>
          </p:cNvPr>
          <p:cNvSpPr>
            <a:spLocks noGrp="1"/>
          </p:cNvSpPr>
          <p:nvPr/>
        </p:nvSpPr>
        <p:spPr>
          <a:xfrm rot="-2100000">
            <a:off x="361950" y="285750"/>
            <a:ext cx="388620" cy="628650"/>
          </a:xfrm>
          <a:prstGeom prst="teardrop">
            <a:avLst/>
          </a:prstGeom>
          <a:solidFill>
            <a:srgbClr val="2F7D4A"/>
          </a:solidFill>
          <a:ln w="0">
            <a:noFill/>
          </a:ln>
        </p:spPr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xmlns="" id="{04DAC0D6-0EB2-4D85-B78D-EE05022503E5}"/>
              </a:ext>
            </a:extLst>
          </p:cNvPr>
          <p:cNvSpPr>
            <a:spLocks noGrp="1"/>
          </p:cNvSpPr>
          <p:nvPr/>
        </p:nvSpPr>
        <p:spPr>
          <a:xfrm>
            <a:off x="487680" y="628650"/>
            <a:ext cx="342900" cy="251460"/>
          </a:xfrm>
          <a:prstGeom prst="line">
            <a:avLst/>
          </a:prstGeom>
          <a:noFill/>
          <a:ln w="19050">
            <a:solidFill>
              <a:srgbClr val="F7F3E8"/>
            </a:solidFill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B6BF028-D475-414D-91D0-B9BE23B58D6F}"/>
              </a:ext>
            </a:extLst>
          </p:cNvPr>
          <p:cNvSpPr>
            <a:spLocks noGrp="1"/>
          </p:cNvSpPr>
          <p:nvPr/>
        </p:nvSpPr>
        <p:spPr>
          <a:xfrm>
            <a:off x="904875" y="2667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>
                <a:solidFill>
                  <a:srgbClr val="BFE0C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FE0C6"/>
                </a:solidFill>
                <a:latin typeface="DejaVu Sans"/>
                <a:ea typeface="DejaVu Sans"/>
                <a:cs typeface="DejaVu Sans"/>
              </a:rPr>
              <a:t>BIOCHAR + BACTERIA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10A66B5-B74F-4CCA-AD19-3B0D98286614}"/>
              </a:ext>
            </a:extLst>
          </p:cNvPr>
          <p:cNvSpPr>
            <a:spLocks noGrp="1"/>
          </p:cNvSpPr>
          <p:nvPr/>
        </p:nvSpPr>
        <p:spPr>
          <a:xfrm>
            <a:off x="876300" y="552450"/>
            <a:ext cx="6381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92"/>
          </a:bodyPr>
          <a:lstStyle/>
          <a:p>
            <a:pPr algn="l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Treatment of Methylene Blue Dye Pollution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EDB7879-54A5-4E75-AD0D-7472D9F3041D}"/>
              </a:ext>
            </a:extLst>
          </p:cNvPr>
          <p:cNvSpPr>
            <a:spLocks noGrp="1"/>
          </p:cNvSpPr>
          <p:nvPr/>
        </p:nvSpPr>
        <p:spPr>
          <a:xfrm>
            <a:off x="904875" y="1028700"/>
            <a:ext cx="6286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 lnSpcReduction="10000"/>
          </a:bodyPr>
          <a:lstStyle/>
          <a:p>
            <a:pPr algn="l">
              <a:defRPr sz="1125" b="0">
                <a:solidFill>
                  <a:srgbClr val="D9E9DE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D9E9DE"/>
                </a:solidFill>
                <a:latin typeface="DejaVu Sans"/>
                <a:ea typeface="DejaVu Sans"/>
                <a:cs typeface="DejaVu Sans"/>
              </a:rPr>
              <a:t>A packed-bed biosorptive system for dye-contaminated wastewater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B1BA9481-3D8B-4019-AA26-4552CD15FD73}"/>
              </a:ext>
            </a:extLst>
          </p:cNvPr>
          <p:cNvSpPr>
            <a:spLocks noGrp="1"/>
          </p:cNvSpPr>
          <p:nvPr/>
        </p:nvSpPr>
        <p:spPr>
          <a:xfrm>
            <a:off x="7334250" y="266700"/>
            <a:ext cx="838200" cy="838200"/>
          </a:xfrm>
          <a:prstGeom prst="ellipse">
            <a:avLst/>
          </a:prstGeom>
          <a:solidFill>
            <a:srgbClr val="61B5D9"/>
          </a:solidFill>
          <a:ln w="19050">
            <a:solidFill>
              <a:srgbClr val="FFFFFF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6295D28-312D-4BFC-AA2B-967846573004}"/>
              </a:ext>
            </a:extLst>
          </p:cNvPr>
          <p:cNvSpPr>
            <a:spLocks noGrp="1"/>
          </p:cNvSpPr>
          <p:nvPr/>
        </p:nvSpPr>
        <p:spPr>
          <a:xfrm>
            <a:off x="7334250" y="419100"/>
            <a:ext cx="8382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34A8E572-84E0-4745-B952-176DCE5BDD03}"/>
              </a:ext>
            </a:extLst>
          </p:cNvPr>
          <p:cNvSpPr>
            <a:spLocks noGrp="1"/>
          </p:cNvSpPr>
          <p:nvPr/>
        </p:nvSpPr>
        <p:spPr>
          <a:xfrm>
            <a:off x="266700" y="1571625"/>
            <a:ext cx="8039100" cy="876300"/>
          </a:xfrm>
          <a:prstGeom prst="roundRect">
            <a:avLst>
              <a:gd name="adj" fmla="val 17391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610441C2-38D1-4922-A186-52EB50E3DFA7}"/>
              </a:ext>
            </a:extLst>
          </p:cNvPr>
          <p:cNvSpPr>
            <a:spLocks noGrp="1"/>
          </p:cNvSpPr>
          <p:nvPr/>
        </p:nvSpPr>
        <p:spPr>
          <a:xfrm>
            <a:off x="476250" y="16859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500" lnSpcReduction="10000"/>
          </a:bodyPr>
          <a:lstStyle/>
          <a:p>
            <a:pPr algn="l">
              <a:def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Why it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217B499-7A17-4B62-9C55-0A90DC8CF47B}"/>
              </a:ext>
            </a:extLst>
          </p:cNvPr>
          <p:cNvSpPr>
            <a:spLocks noGrp="1"/>
          </p:cNvSpPr>
          <p:nvPr/>
        </p:nvSpPr>
        <p:spPr>
          <a:xfrm>
            <a:off x="476250" y="1943100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428"/>
          </a:bodyPr>
          <a:lstStyle/>
          <a:p>
            <a:pPr algn="l">
              <a:def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Methylene blue is a cationic dye used in textile and related industries. Colored effluent can reduce light penetration and disturb aquatic photosynthesis. Treatment before discharge helps protect receiving waters.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C0A82C3B-F4DC-45E0-86BB-2C3E275C93F8}"/>
              </a:ext>
            </a:extLst>
          </p:cNvPr>
          <p:cNvSpPr>
            <a:spLocks noGrp="1"/>
          </p:cNvSpPr>
          <p:nvPr/>
        </p:nvSpPr>
        <p:spPr>
          <a:xfrm>
            <a:off x="266700" y="2647950"/>
            <a:ext cx="2667000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9465007-D4BD-4F12-A534-0E627EF4308A}"/>
              </a:ext>
            </a:extLst>
          </p:cNvPr>
          <p:cNvSpPr>
            <a:spLocks noGrp="1"/>
          </p:cNvSpPr>
          <p:nvPr/>
        </p:nvSpPr>
        <p:spPr>
          <a:xfrm>
            <a:off x="400050" y="2667000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193" lnSpcReduction="10000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Pollution Problem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xmlns="" id="{86BCA03D-3300-429F-93FC-2F3CAC826CE4}"/>
              </a:ext>
            </a:extLst>
          </p:cNvPr>
          <p:cNvSpPr>
            <a:spLocks noGrp="1"/>
          </p:cNvSpPr>
          <p:nvPr/>
        </p:nvSpPr>
        <p:spPr>
          <a:xfrm>
            <a:off x="266700" y="3105150"/>
            <a:ext cx="2667000" cy="2171700"/>
          </a:xfrm>
          <a:prstGeom prst="roundRect">
            <a:avLst>
              <a:gd name="adj" fmla="val 7018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4E3D97D-26F1-4963-8B7E-E089384A0DB7}"/>
              </a:ext>
            </a:extLst>
          </p:cNvPr>
          <p:cNvSpPr>
            <a:spLocks noGrp="1"/>
          </p:cNvSpPr>
          <p:nvPr/>
        </p:nvSpPr>
        <p:spPr>
          <a:xfrm>
            <a:off x="457200" y="3276600"/>
            <a:ext cx="1619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 lnSpcReduction="10000"/>
          </a:bodyPr>
          <a:lstStyle/>
          <a:p>
            <a:pPr algn="l">
              <a:defRPr sz="900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COMMON 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3EFBD6E-95B7-4B48-812D-3F5074324AF0}"/>
              </a:ext>
            </a:extLst>
          </p:cNvPr>
          <p:cNvSpPr>
            <a:spLocks noGrp="1"/>
          </p:cNvSpPr>
          <p:nvPr/>
        </p:nvSpPr>
        <p:spPr>
          <a:xfrm>
            <a:off x="476250" y="3543300"/>
            <a:ext cx="2209800" cy="819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196"/>
          </a:bodyPr>
          <a:lstStyle/>
          <a:p>
            <a:pPr algn="l">
              <a:def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Textile dyeing and printing</a:t>
            </a:r>
          </a:p>
          <a:p>
            <a:pPr algn="l">
              <a:def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Paper, leather and laboratory waste streams</a:t>
            </a:r>
          </a:p>
          <a:p>
            <a:pPr algn="l">
              <a:def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Poorly treated colored effluent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xmlns="" id="{6069B7CB-502A-4D28-A4A3-0344AC6BCF4B}"/>
              </a:ext>
            </a:extLst>
          </p:cNvPr>
          <p:cNvSpPr>
            <a:spLocks noGrp="1"/>
          </p:cNvSpPr>
          <p:nvPr/>
        </p:nvSpPr>
        <p:spPr>
          <a:xfrm>
            <a:off x="457200" y="4476750"/>
            <a:ext cx="2286000" cy="581025"/>
          </a:xfrm>
          <a:prstGeom prst="roundRect">
            <a:avLst>
              <a:gd name="adj" fmla="val 19672"/>
            </a:avLst>
          </a:prstGeom>
          <a:solidFill>
            <a:srgbClr val="DCEFF6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C922702F-69C4-43B2-8F45-87261AD42646}"/>
              </a:ext>
            </a:extLst>
          </p:cNvPr>
          <p:cNvSpPr>
            <a:spLocks noGrp="1"/>
          </p:cNvSpPr>
          <p:nvPr/>
        </p:nvSpPr>
        <p:spPr>
          <a:xfrm>
            <a:off x="590550" y="4581525"/>
            <a:ext cx="2019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961"/>
          </a:bodyPr>
          <a:lstStyle/>
          <a:p>
            <a:pPr algn="ctr">
              <a:defRPr sz="1050" b="1">
                <a:solidFill>
                  <a:srgbClr val="1267A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67A8"/>
                </a:solidFill>
                <a:latin typeface="DejaVu Sans"/>
                <a:ea typeface="DejaVu Sans"/>
                <a:cs typeface="DejaVu Sans"/>
              </a:rPr>
              <a:t>Visible colour can persist even at low dye concentration.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xmlns="" id="{EB843D16-1C96-47F9-9A4E-66B7D5FD401D}"/>
              </a:ext>
            </a:extLst>
          </p:cNvPr>
          <p:cNvSpPr>
            <a:spLocks noGrp="1"/>
          </p:cNvSpPr>
          <p:nvPr/>
        </p:nvSpPr>
        <p:spPr>
          <a:xfrm>
            <a:off x="266700" y="5486400"/>
            <a:ext cx="2667000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F137C0F-26D7-4D30-9C9C-68494A2D7653}"/>
              </a:ext>
            </a:extLst>
          </p:cNvPr>
          <p:cNvSpPr>
            <a:spLocks noGrp="1"/>
          </p:cNvSpPr>
          <p:nvPr/>
        </p:nvSpPr>
        <p:spPr>
          <a:xfrm>
            <a:off x="400050" y="5505450"/>
            <a:ext cx="24003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469" lnSpcReduction="10000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the System Works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xmlns="" id="{4F31EB3A-4804-4906-8726-648731B5E91B}"/>
              </a:ext>
            </a:extLst>
          </p:cNvPr>
          <p:cNvSpPr>
            <a:spLocks noGrp="1"/>
          </p:cNvSpPr>
          <p:nvPr/>
        </p:nvSpPr>
        <p:spPr>
          <a:xfrm>
            <a:off x="266700" y="5943600"/>
            <a:ext cx="2667000" cy="2857500"/>
          </a:xfrm>
          <a:prstGeom prst="roundRect">
            <a:avLst>
              <a:gd name="adj" fmla="val 5714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DD8F06B9-E902-4B38-9EE6-4297499F8327}"/>
              </a:ext>
            </a:extLst>
          </p:cNvPr>
          <p:cNvSpPr>
            <a:spLocks noGrp="1"/>
          </p:cNvSpPr>
          <p:nvPr/>
        </p:nvSpPr>
        <p:spPr>
          <a:xfrm>
            <a:off x="476250" y="61341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1  Adsorption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EBB8E309-ECE8-4EC5-AD13-9F3340603102}"/>
              </a:ext>
            </a:extLst>
          </p:cNvPr>
          <p:cNvSpPr>
            <a:spLocks noGrp="1"/>
          </p:cNvSpPr>
          <p:nvPr/>
        </p:nvSpPr>
        <p:spPr>
          <a:xfrm>
            <a:off x="476250" y="641985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09"/>
          </a:bodyPr>
          <a:lstStyle/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Porous Casuarina-seed biochar first captures dye molecules on its surface.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1BEAEE52-2B92-440E-B8DB-95A41859FE37}"/>
              </a:ext>
            </a:extLst>
          </p:cNvPr>
          <p:cNvSpPr>
            <a:spLocks noGrp="1"/>
          </p:cNvSpPr>
          <p:nvPr/>
        </p:nvSpPr>
        <p:spPr>
          <a:xfrm>
            <a:off x="476250" y="70675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2  Immobilization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B8F766CD-8965-49EB-8B28-4ECA9A9C2280}"/>
              </a:ext>
            </a:extLst>
          </p:cNvPr>
          <p:cNvSpPr>
            <a:spLocks noGrp="1"/>
          </p:cNvSpPr>
          <p:nvPr/>
        </p:nvSpPr>
        <p:spPr>
          <a:xfrm>
            <a:off x="476250" y="7353300"/>
            <a:ext cx="2190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09"/>
          </a:bodyPr>
          <a:lstStyle/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Alcaligenes faecalis forms an active bacterial layer on the packing material.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538EB2E2-8771-4C5B-96E7-0AC1D8A9E675}"/>
              </a:ext>
            </a:extLst>
          </p:cNvPr>
          <p:cNvSpPr>
            <a:spLocks noGrp="1"/>
          </p:cNvSpPr>
          <p:nvPr/>
        </p:nvSpPr>
        <p:spPr>
          <a:xfrm>
            <a:off x="476250" y="800100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3  Biodegradation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8689F684-2A98-4C70-902E-1E2AA4AD0F9D}"/>
              </a:ext>
            </a:extLst>
          </p:cNvPr>
          <p:cNvSpPr>
            <a:spLocks noGrp="1"/>
          </p:cNvSpPr>
          <p:nvPr/>
        </p:nvSpPr>
        <p:spPr>
          <a:xfrm>
            <a:off x="476250" y="82867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373" lnSpcReduction="10000"/>
          </a:bodyPr>
          <a:lstStyle/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The attached bacteria metabolize methylene blue, supporting continued removal.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xmlns="" id="{EA46739B-DF88-451A-AA13-CE45ABF78B00}"/>
              </a:ext>
            </a:extLst>
          </p:cNvPr>
          <p:cNvSpPr>
            <a:spLocks noGrp="1"/>
          </p:cNvSpPr>
          <p:nvPr/>
        </p:nvSpPr>
        <p:spPr>
          <a:xfrm>
            <a:off x="3124200" y="2647950"/>
            <a:ext cx="5181600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678595E6-4BA4-4A76-8E69-A27A9E648AF9}"/>
              </a:ext>
            </a:extLst>
          </p:cNvPr>
          <p:cNvSpPr>
            <a:spLocks noGrp="1"/>
          </p:cNvSpPr>
          <p:nvPr/>
        </p:nvSpPr>
        <p:spPr>
          <a:xfrm>
            <a:off x="3257550" y="2667000"/>
            <a:ext cx="49149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389" lnSpcReduction="10000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Treatment Process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xmlns="" id="{521EE772-7D77-4277-9BC0-D7846108B1F6}"/>
              </a:ext>
            </a:extLst>
          </p:cNvPr>
          <p:cNvSpPr>
            <a:spLocks noGrp="1"/>
          </p:cNvSpPr>
          <p:nvPr/>
        </p:nvSpPr>
        <p:spPr>
          <a:xfrm>
            <a:off x="3124200" y="3105150"/>
            <a:ext cx="5181600" cy="3257550"/>
          </a:xfrm>
          <a:prstGeom prst="roundRect">
            <a:avLst>
              <a:gd name="adj" fmla="val 4678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69E34BEE-D4B1-4ECD-8C4B-D84D007786C0}"/>
              </a:ext>
            </a:extLst>
          </p:cNvPr>
          <p:cNvSpPr>
            <a:spLocks noGrp="1"/>
          </p:cNvSpPr>
          <p:nvPr/>
        </p:nvSpPr>
        <p:spPr>
          <a:xfrm>
            <a:off x="3619500" y="3524250"/>
            <a:ext cx="552450" cy="552450"/>
          </a:xfrm>
          <a:prstGeom prst="ellipse">
            <a:avLst/>
          </a:prstGeom>
          <a:solidFill>
            <a:srgbClr val="1267A8"/>
          </a:solidFill>
          <a:ln w="19050">
            <a:solidFill>
              <a:srgbClr val="FFFFFF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9A7E2CD6-D833-4195-B7B6-78ABC6982CD6}"/>
              </a:ext>
            </a:extLst>
          </p:cNvPr>
          <p:cNvSpPr>
            <a:spLocks noGrp="1"/>
          </p:cNvSpPr>
          <p:nvPr/>
        </p:nvSpPr>
        <p:spPr>
          <a:xfrm>
            <a:off x="3619500" y="35433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D876574A-1BF2-4A3D-9C86-692F9CE3DC9E}"/>
              </a:ext>
            </a:extLst>
          </p:cNvPr>
          <p:cNvSpPr>
            <a:spLocks noGrp="1"/>
          </p:cNvSpPr>
          <p:nvPr/>
        </p:nvSpPr>
        <p:spPr>
          <a:xfrm>
            <a:off x="3333750" y="4124325"/>
            <a:ext cx="1123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0"/>
          </a:bodyPr>
          <a:lstStyle/>
          <a:p>
            <a:pPr algn="ctr">
              <a:def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Dye effluent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FD0F8736-5817-45C2-BF25-FBAA9784E8FD}"/>
              </a:ext>
            </a:extLst>
          </p:cNvPr>
          <p:cNvSpPr>
            <a:spLocks noGrp="1"/>
          </p:cNvSpPr>
          <p:nvPr/>
        </p:nvSpPr>
        <p:spPr>
          <a:xfrm>
            <a:off x="3286125" y="43910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rPr>
              <a:t>Blue wastewater enters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061D78D8-A249-4F05-8A35-0E06DA1AC379}"/>
              </a:ext>
            </a:extLst>
          </p:cNvPr>
          <p:cNvSpPr>
            <a:spLocks noGrp="1"/>
          </p:cNvSpPr>
          <p:nvPr/>
        </p:nvSpPr>
        <p:spPr>
          <a:xfrm>
            <a:off x="4819650" y="3524250"/>
            <a:ext cx="552450" cy="552450"/>
          </a:xfrm>
          <a:prstGeom prst="ellipse">
            <a:avLst/>
          </a:prstGeom>
          <a:solidFill>
            <a:srgbClr val="5A3C2B"/>
          </a:solidFill>
          <a:ln w="19050">
            <a:solidFill>
              <a:srgbClr val="FFFFFF"/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76D830F1-67FF-44AF-9E6D-A1FD99DBE4B2}"/>
              </a:ext>
            </a:extLst>
          </p:cNvPr>
          <p:cNvSpPr>
            <a:spLocks noGrp="1"/>
          </p:cNvSpPr>
          <p:nvPr/>
        </p:nvSpPr>
        <p:spPr>
          <a:xfrm>
            <a:off x="4819650" y="35433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CB921D5F-A9D1-49ED-A1A2-4D42E4E41E25}"/>
              </a:ext>
            </a:extLst>
          </p:cNvPr>
          <p:cNvSpPr>
            <a:spLocks noGrp="1"/>
          </p:cNvSpPr>
          <p:nvPr/>
        </p:nvSpPr>
        <p:spPr>
          <a:xfrm>
            <a:off x="4533900" y="4124325"/>
            <a:ext cx="1123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017"/>
          </a:bodyPr>
          <a:lstStyle/>
          <a:p>
            <a:pPr algn="ctr">
              <a:def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Biochar bed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A43E04A7-767A-45AF-AB7F-D700A2BAD133}"/>
              </a:ext>
            </a:extLst>
          </p:cNvPr>
          <p:cNvSpPr>
            <a:spLocks noGrp="1"/>
          </p:cNvSpPr>
          <p:nvPr/>
        </p:nvSpPr>
        <p:spPr>
          <a:xfrm>
            <a:off x="4486275" y="43910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rPr>
              <a:t>Dye adsorbs to pores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xmlns="" id="{8EC6415C-C114-44BB-A1B0-507CA823A59B}"/>
              </a:ext>
            </a:extLst>
          </p:cNvPr>
          <p:cNvSpPr>
            <a:spLocks noGrp="1"/>
          </p:cNvSpPr>
          <p:nvPr/>
        </p:nvSpPr>
        <p:spPr>
          <a:xfrm>
            <a:off x="6019800" y="3524250"/>
            <a:ext cx="552450" cy="552450"/>
          </a:xfrm>
          <a:prstGeom prst="ellipse">
            <a:avLst/>
          </a:prstGeom>
          <a:solidFill>
            <a:srgbClr val="2F7D4A"/>
          </a:solidFill>
          <a:ln w="19050">
            <a:solidFill>
              <a:srgbClr val="FFFFFF"/>
            </a:solidFill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FC7D8C3D-135B-4704-BE03-1A9CBFCD6639}"/>
              </a:ext>
            </a:extLst>
          </p:cNvPr>
          <p:cNvSpPr>
            <a:spLocks noGrp="1"/>
          </p:cNvSpPr>
          <p:nvPr/>
        </p:nvSpPr>
        <p:spPr>
          <a:xfrm>
            <a:off x="6019800" y="35433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01CAED59-C0C6-4F66-AB0D-6777DE659920}"/>
              </a:ext>
            </a:extLst>
          </p:cNvPr>
          <p:cNvSpPr>
            <a:spLocks noGrp="1"/>
          </p:cNvSpPr>
          <p:nvPr/>
        </p:nvSpPr>
        <p:spPr>
          <a:xfrm>
            <a:off x="5734050" y="4124325"/>
            <a:ext cx="1123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310"/>
          </a:bodyPr>
          <a:lstStyle/>
          <a:p>
            <a:pPr algn="ctr">
              <a:def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Bacterial film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7C659F01-AEAB-4701-BCA5-11B8A04B94DD}"/>
              </a:ext>
            </a:extLst>
          </p:cNvPr>
          <p:cNvSpPr>
            <a:spLocks noGrp="1"/>
          </p:cNvSpPr>
          <p:nvPr/>
        </p:nvSpPr>
        <p:spPr>
          <a:xfrm>
            <a:off x="5686425" y="43910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rPr>
              <a:t>Cells attach to biochar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xmlns="" id="{3467026F-69D6-4DA8-988B-3193C11160C3}"/>
              </a:ext>
            </a:extLst>
          </p:cNvPr>
          <p:cNvSpPr>
            <a:spLocks noGrp="1"/>
          </p:cNvSpPr>
          <p:nvPr/>
        </p:nvSpPr>
        <p:spPr>
          <a:xfrm>
            <a:off x="7219950" y="3524250"/>
            <a:ext cx="552450" cy="552450"/>
          </a:xfrm>
          <a:prstGeom prst="ellipse">
            <a:avLst/>
          </a:prstGeom>
          <a:solidFill>
            <a:srgbClr val="D7A83E"/>
          </a:solidFill>
          <a:ln w="19050">
            <a:solidFill>
              <a:srgbClr val="FFFFFF"/>
            </a:solidFill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E8975C2A-64E3-46CE-A7C7-3672ADCBDF30}"/>
              </a:ext>
            </a:extLst>
          </p:cNvPr>
          <p:cNvSpPr>
            <a:spLocks noGrp="1"/>
          </p:cNvSpPr>
          <p:nvPr/>
        </p:nvSpPr>
        <p:spPr>
          <a:xfrm>
            <a:off x="7219950" y="3543300"/>
            <a:ext cx="5524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BED5183A-7DF3-4FE7-92BB-F581246FCF02}"/>
              </a:ext>
            </a:extLst>
          </p:cNvPr>
          <p:cNvSpPr>
            <a:spLocks noGrp="1"/>
          </p:cNvSpPr>
          <p:nvPr/>
        </p:nvSpPr>
        <p:spPr>
          <a:xfrm>
            <a:off x="6934200" y="4124325"/>
            <a:ext cx="1123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730"/>
          </a:bodyPr>
          <a:lstStyle/>
          <a:p>
            <a:pPr algn="ctr">
              <a:def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45A3A"/>
                </a:solidFill>
                <a:latin typeface="DejaVu Sans"/>
                <a:ea typeface="DejaVu Sans"/>
                <a:cs typeface="DejaVu Sans"/>
              </a:rPr>
              <a:t>Biodegradation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xmlns="" id="{E7907C21-C2FE-4A59-B3E6-55BC87AA9A46}"/>
              </a:ext>
            </a:extLst>
          </p:cNvPr>
          <p:cNvSpPr>
            <a:spLocks noGrp="1"/>
          </p:cNvSpPr>
          <p:nvPr/>
        </p:nvSpPr>
        <p:spPr>
          <a:xfrm>
            <a:off x="6886575" y="4391025"/>
            <a:ext cx="12192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56635E"/>
                </a:solidFill>
                <a:latin typeface="DejaVu Sans"/>
                <a:ea typeface="DejaVu Sans"/>
                <a:cs typeface="DejaVu Sans"/>
              </a:rPr>
              <a:t>Microbes break down dye</a:t>
            </a:r>
          </a:p>
        </p:txBody>
      </p:sp>
      <p:sp>
        <p:nvSpPr>
          <p:cNvPr id="47" name="Right Arrow 46">
            <a:extLst>
              <a:ext uri="{FF2B5EF4-FFF2-40B4-BE49-F238E27FC236}">
                <a16:creationId xmlns:a16="http://schemas.microsoft.com/office/drawing/2014/main" xmlns="" id="{00B13769-E3AE-4F2D-9FFD-EE7E85B2FA57}"/>
              </a:ext>
            </a:extLst>
          </p:cNvPr>
          <p:cNvSpPr>
            <a:spLocks noGrp="1"/>
          </p:cNvSpPr>
          <p:nvPr/>
        </p:nvSpPr>
        <p:spPr>
          <a:xfrm>
            <a:off x="4333875" y="3705225"/>
            <a:ext cx="285750" cy="209550"/>
          </a:xfrm>
          <a:prstGeom prst="rightArrow">
            <a:avLst/>
          </a:prstGeom>
          <a:solidFill>
            <a:srgbClr val="2F7D4A"/>
          </a:solidFill>
          <a:ln w="0">
            <a:noFill/>
          </a:ln>
        </p:spPr>
      </p:sp>
      <p:sp>
        <p:nvSpPr>
          <p:cNvPr id="48" name="Right Arrow 47">
            <a:extLst>
              <a:ext uri="{FF2B5EF4-FFF2-40B4-BE49-F238E27FC236}">
                <a16:creationId xmlns:a16="http://schemas.microsoft.com/office/drawing/2014/main" xmlns="" id="{42D9BB6E-05AE-4E6B-A790-02AD0E673262}"/>
              </a:ext>
            </a:extLst>
          </p:cNvPr>
          <p:cNvSpPr>
            <a:spLocks noGrp="1"/>
          </p:cNvSpPr>
          <p:nvPr/>
        </p:nvSpPr>
        <p:spPr>
          <a:xfrm>
            <a:off x="5534025" y="3705225"/>
            <a:ext cx="285750" cy="209550"/>
          </a:xfrm>
          <a:prstGeom prst="rightArrow">
            <a:avLst/>
          </a:prstGeom>
          <a:solidFill>
            <a:srgbClr val="2F7D4A"/>
          </a:solidFill>
          <a:ln w="0">
            <a:noFill/>
          </a:ln>
        </p:spPr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xmlns="" id="{3FB869CA-8A90-4AAC-BAB4-1B53F9DD6B45}"/>
              </a:ext>
            </a:extLst>
          </p:cNvPr>
          <p:cNvSpPr>
            <a:spLocks noGrp="1"/>
          </p:cNvSpPr>
          <p:nvPr/>
        </p:nvSpPr>
        <p:spPr>
          <a:xfrm>
            <a:off x="6734175" y="3705225"/>
            <a:ext cx="285750" cy="209550"/>
          </a:xfrm>
          <a:prstGeom prst="rightArrow">
            <a:avLst/>
          </a:prstGeom>
          <a:solidFill>
            <a:srgbClr val="2F7D4A"/>
          </a:solidFill>
          <a:ln w="0">
            <a:noFill/>
          </a:ln>
        </p:spPr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xmlns="" id="{A5D157CE-AF75-4EC0-9B4C-1564B9936083}"/>
              </a:ext>
            </a:extLst>
          </p:cNvPr>
          <p:cNvSpPr>
            <a:spLocks noGrp="1"/>
          </p:cNvSpPr>
          <p:nvPr/>
        </p:nvSpPr>
        <p:spPr>
          <a:xfrm>
            <a:off x="3543300" y="5095875"/>
            <a:ext cx="4343400" cy="952500"/>
          </a:xfrm>
          <a:prstGeom prst="roundRect">
            <a:avLst>
              <a:gd name="adj" fmla="val 16000"/>
            </a:avLst>
          </a:prstGeom>
          <a:solidFill>
            <a:srgbClr val="E4EFDC"/>
          </a:solidFill>
          <a:ln w="0">
            <a:noFill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xmlns="" id="{8B08B2CB-F4B1-4467-BBF0-03B55EE27F4F}"/>
              </a:ext>
            </a:extLst>
          </p:cNvPr>
          <p:cNvSpPr>
            <a:spLocks noGrp="1"/>
          </p:cNvSpPr>
          <p:nvPr/>
        </p:nvSpPr>
        <p:spPr>
          <a:xfrm>
            <a:off x="3733800" y="5238750"/>
            <a:ext cx="100012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308"/>
          </a:bodyPr>
          <a:lstStyle/>
          <a:p>
            <a:pPr algn="l">
              <a:defRPr sz="975" b="1">
                <a:solidFill>
                  <a:srgbClr val="2F7D4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F7D4A"/>
                </a:solidFill>
                <a:latin typeface="DejaVu Sans"/>
                <a:ea typeface="DejaVu Sans"/>
                <a:cs typeface="DejaVu Sans"/>
              </a:rPr>
              <a:t>OUTCOME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25264A8E-CF25-42BE-BCE0-EEC606CBE3E6}"/>
              </a:ext>
            </a:extLst>
          </p:cNvPr>
          <p:cNvSpPr>
            <a:spLocks noGrp="1"/>
          </p:cNvSpPr>
          <p:nvPr/>
        </p:nvSpPr>
        <p:spPr>
          <a:xfrm>
            <a:off x="3733800" y="5495925"/>
            <a:ext cx="39433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482"/>
          </a:bodyPr>
          <a:lstStyle/>
          <a:p>
            <a:pPr algn="l">
              <a:def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A combined adsorption + biodegradation pathway removes colour more effectively than biochar adsorption alone in the study system.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xmlns="" id="{45CC68AC-83EF-4AAB-A007-CE3CD8124FA0}"/>
              </a:ext>
            </a:extLst>
          </p:cNvPr>
          <p:cNvSpPr>
            <a:spLocks noGrp="1"/>
          </p:cNvSpPr>
          <p:nvPr/>
        </p:nvSpPr>
        <p:spPr>
          <a:xfrm>
            <a:off x="3124200" y="6591300"/>
            <a:ext cx="5181600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xmlns="" id="{B57D8225-91BF-4EB6-AFEE-1139829FEDD3}"/>
              </a:ext>
            </a:extLst>
          </p:cNvPr>
          <p:cNvSpPr>
            <a:spLocks noGrp="1"/>
          </p:cNvSpPr>
          <p:nvPr/>
        </p:nvSpPr>
        <p:spPr>
          <a:xfrm>
            <a:off x="3257550" y="6610350"/>
            <a:ext cx="49149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Key Findings from the 2019 Study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xmlns="" id="{188D8A73-8909-465E-B8C9-2B08272D8051}"/>
              </a:ext>
            </a:extLst>
          </p:cNvPr>
          <p:cNvSpPr>
            <a:spLocks noGrp="1"/>
          </p:cNvSpPr>
          <p:nvPr/>
        </p:nvSpPr>
        <p:spPr>
          <a:xfrm>
            <a:off x="3124200" y="7048500"/>
            <a:ext cx="5181600" cy="1752600"/>
          </a:xfrm>
          <a:prstGeom prst="roundRect">
            <a:avLst>
              <a:gd name="adj" fmla="val 8696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56" name="Oval 55">
            <a:extLst>
              <a:ext uri="{FF2B5EF4-FFF2-40B4-BE49-F238E27FC236}">
                <a16:creationId xmlns:a16="http://schemas.microsoft.com/office/drawing/2014/main" xmlns="" id="{B7E437AE-21CA-4712-AC1D-050CA7B92804}"/>
              </a:ext>
            </a:extLst>
          </p:cNvPr>
          <p:cNvSpPr>
            <a:spLocks noGrp="1"/>
          </p:cNvSpPr>
          <p:nvPr/>
        </p:nvSpPr>
        <p:spPr>
          <a:xfrm>
            <a:off x="3352800" y="7372350"/>
            <a:ext cx="1066800" cy="1066800"/>
          </a:xfrm>
          <a:prstGeom prst="ellipse">
            <a:avLst/>
          </a:prstGeom>
          <a:solidFill>
            <a:srgbClr val="1267A8"/>
          </a:solidFill>
          <a:ln w="0">
            <a:noFill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91C4F8EC-4BC0-4075-9FD4-49A0ABC91593}"/>
              </a:ext>
            </a:extLst>
          </p:cNvPr>
          <p:cNvSpPr>
            <a:spLocks noGrp="1"/>
          </p:cNvSpPr>
          <p:nvPr/>
        </p:nvSpPr>
        <p:spPr>
          <a:xfrm>
            <a:off x="3352800" y="7553325"/>
            <a:ext cx="10668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957"/>
          </a:bodyPr>
          <a:lstStyle/>
          <a:p>
            <a:pPr algn="ctr"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96.2%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C7ECB233-994B-4BDD-B5DC-AD3BA5522121}"/>
              </a:ext>
            </a:extLst>
          </p:cNvPr>
          <p:cNvSpPr>
            <a:spLocks noGrp="1"/>
          </p:cNvSpPr>
          <p:nvPr/>
        </p:nvSpPr>
        <p:spPr>
          <a:xfrm>
            <a:off x="3352800" y="7972425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312"/>
          </a:bodyPr>
          <a:lstStyle/>
          <a:p>
            <a:pPr algn="ctr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batch removal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xmlns="" id="{83E32705-1769-453D-A846-6E1DB0F1DE42}"/>
              </a:ext>
            </a:extLst>
          </p:cNvPr>
          <p:cNvSpPr>
            <a:spLocks noGrp="1"/>
          </p:cNvSpPr>
          <p:nvPr/>
        </p:nvSpPr>
        <p:spPr>
          <a:xfrm>
            <a:off x="4762500" y="7372350"/>
            <a:ext cx="1066800" cy="1066800"/>
          </a:xfrm>
          <a:prstGeom prst="ellipse">
            <a:avLst/>
          </a:prstGeom>
          <a:solidFill>
            <a:srgbClr val="2F7D4A"/>
          </a:solidFill>
          <a:ln w="0">
            <a:noFill/>
          </a:ln>
        </p:spPr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xmlns="" id="{318BEF8D-9E01-40E1-9E47-3FA0BFFF2CA9}"/>
              </a:ext>
            </a:extLst>
          </p:cNvPr>
          <p:cNvSpPr>
            <a:spLocks noGrp="1"/>
          </p:cNvSpPr>
          <p:nvPr/>
        </p:nvSpPr>
        <p:spPr>
          <a:xfrm>
            <a:off x="4762500" y="7553325"/>
            <a:ext cx="10668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87%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xmlns="" id="{75F48DAC-F8D8-4CC4-B11C-A0B35E3B04F3}"/>
              </a:ext>
            </a:extLst>
          </p:cNvPr>
          <p:cNvSpPr>
            <a:spLocks noGrp="1"/>
          </p:cNvSpPr>
          <p:nvPr/>
        </p:nvSpPr>
        <p:spPr>
          <a:xfrm>
            <a:off x="4762500" y="7962900"/>
            <a:ext cx="106680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636"/>
          </a:bodyPr>
          <a:lstStyle/>
          <a:p>
            <a:pPr algn="ctr"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packed-bed removal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xmlns="" id="{494F1DED-9184-4F35-B94A-A54587EF0576}"/>
              </a:ext>
            </a:extLst>
          </p:cNvPr>
          <p:cNvSpPr>
            <a:spLocks noGrp="1"/>
          </p:cNvSpPr>
          <p:nvPr/>
        </p:nvSpPr>
        <p:spPr>
          <a:xfrm>
            <a:off x="6172200" y="7372350"/>
            <a:ext cx="1066800" cy="1066800"/>
          </a:xfrm>
          <a:prstGeom prst="ellipse">
            <a:avLst/>
          </a:prstGeom>
          <a:solidFill>
            <a:srgbClr val="5A3C2B"/>
          </a:solidFill>
          <a:ln w="0">
            <a:noFill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xmlns="" id="{A7C68528-5D2E-460B-9040-6EE7D5AF5EB2}"/>
              </a:ext>
            </a:extLst>
          </p:cNvPr>
          <p:cNvSpPr>
            <a:spLocks noGrp="1"/>
          </p:cNvSpPr>
          <p:nvPr/>
        </p:nvSpPr>
        <p:spPr>
          <a:xfrm>
            <a:off x="6172200" y="7553325"/>
            <a:ext cx="10668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5×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ADC6CF18-98CF-4252-9DE2-F123812AB702}"/>
              </a:ext>
            </a:extLst>
          </p:cNvPr>
          <p:cNvSpPr>
            <a:spLocks noGrp="1"/>
          </p:cNvSpPr>
          <p:nvPr/>
        </p:nvSpPr>
        <p:spPr>
          <a:xfrm>
            <a:off x="6172200" y="7972425"/>
            <a:ext cx="10668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biochar reuse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xmlns="" id="{87C37DDD-DDE8-4ED4-AFB1-07A1BD0FE9F2}"/>
              </a:ext>
            </a:extLst>
          </p:cNvPr>
          <p:cNvSpPr>
            <a:spLocks noGrp="1"/>
          </p:cNvSpPr>
          <p:nvPr/>
        </p:nvSpPr>
        <p:spPr>
          <a:xfrm>
            <a:off x="3381375" y="8524875"/>
            <a:ext cx="4667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39"/>
          </a:bodyPr>
          <a:lstStyle/>
          <a:p>
            <a:pPr algn="ctr">
              <a:defRPr sz="825" b="0">
                <a:solidFill>
                  <a:srgbClr val="56635E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6635E"/>
                </a:solidFill>
                <a:latin typeface="DejaVu Sans"/>
                <a:ea typeface="DejaVu Sans"/>
                <a:cs typeface="DejaVu Sans"/>
              </a:rPr>
              <a:t>Batch: 150 ppm, 30°C, 5 days   |   Packed bed: 500 ppm, 10 days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xmlns="" id="{316CC7B2-35FE-4D73-95EB-8FCED8C57D92}"/>
              </a:ext>
            </a:extLst>
          </p:cNvPr>
          <p:cNvSpPr>
            <a:spLocks noGrp="1"/>
          </p:cNvSpPr>
          <p:nvPr/>
        </p:nvSpPr>
        <p:spPr>
          <a:xfrm>
            <a:off x="266700" y="9029700"/>
            <a:ext cx="2524125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xmlns="" id="{41ACA17B-A535-4046-BDA6-2F1B0BBFE355}"/>
              </a:ext>
            </a:extLst>
          </p:cNvPr>
          <p:cNvSpPr>
            <a:spLocks noGrp="1"/>
          </p:cNvSpPr>
          <p:nvPr/>
        </p:nvSpPr>
        <p:spPr>
          <a:xfrm>
            <a:off x="400050" y="9048750"/>
            <a:ext cx="22574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Advantages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xmlns="" id="{7A941A0E-1850-4C20-98B1-DA70B3119C73}"/>
              </a:ext>
            </a:extLst>
          </p:cNvPr>
          <p:cNvSpPr>
            <a:spLocks noGrp="1"/>
          </p:cNvSpPr>
          <p:nvPr/>
        </p:nvSpPr>
        <p:spPr>
          <a:xfrm>
            <a:off x="266700" y="9486900"/>
            <a:ext cx="2524125" cy="1619250"/>
          </a:xfrm>
          <a:prstGeom prst="roundRect">
            <a:avLst>
              <a:gd name="adj" fmla="val 9412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xmlns="" id="{05864F37-E06A-48C6-831E-8DD5166A127C}"/>
              </a:ext>
            </a:extLst>
          </p:cNvPr>
          <p:cNvSpPr>
            <a:spLocks noGrp="1"/>
          </p:cNvSpPr>
          <p:nvPr/>
        </p:nvSpPr>
        <p:spPr>
          <a:xfrm>
            <a:off x="476250" y="9658350"/>
            <a:ext cx="2095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788"/>
          </a:bodyPr>
          <a:lstStyle/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Uses waste biomass as packing media</a:t>
            </a:r>
          </a:p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Combines rapid surface capture with biological treatment</a:t>
            </a:r>
          </a:p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Supports attached bacterial growth</a:t>
            </a:r>
          </a:p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Biochar showed repeated use in the study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xmlns="" id="{2ECB7AD7-B623-4FC4-9C40-31C77297C2B9}"/>
              </a:ext>
            </a:extLst>
          </p:cNvPr>
          <p:cNvSpPr>
            <a:spLocks noGrp="1"/>
          </p:cNvSpPr>
          <p:nvPr/>
        </p:nvSpPr>
        <p:spPr>
          <a:xfrm>
            <a:off x="3000375" y="9029700"/>
            <a:ext cx="2647950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xmlns="" id="{4FE7CFAF-FF52-4A77-B859-ABD8CA43D84E}"/>
              </a:ext>
            </a:extLst>
          </p:cNvPr>
          <p:cNvSpPr>
            <a:spLocks noGrp="1"/>
          </p:cNvSpPr>
          <p:nvPr/>
        </p:nvSpPr>
        <p:spPr>
          <a:xfrm>
            <a:off x="3133725" y="90487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3512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Limits and Scale-up Needs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xmlns="" id="{7A8E9108-6C02-49A4-AB75-8B3D48876572}"/>
              </a:ext>
            </a:extLst>
          </p:cNvPr>
          <p:cNvSpPr>
            <a:spLocks noGrp="1"/>
          </p:cNvSpPr>
          <p:nvPr/>
        </p:nvSpPr>
        <p:spPr>
          <a:xfrm>
            <a:off x="3000375" y="9486900"/>
            <a:ext cx="2647950" cy="1619250"/>
          </a:xfrm>
          <a:prstGeom prst="roundRect">
            <a:avLst>
              <a:gd name="adj" fmla="val 9412"/>
            </a:avLst>
          </a:prstGeom>
          <a:solidFill>
            <a:srgbClr val="FFFCF5"/>
          </a:solidFill>
          <a:ln w="19050">
            <a:solidFill>
              <a:srgbClr val="D9DFD5"/>
            </a:solidFill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xmlns="" id="{E4732F40-0626-43B4-A88E-614BED7B8EDF}"/>
              </a:ext>
            </a:extLst>
          </p:cNvPr>
          <p:cNvSpPr>
            <a:spLocks noGrp="1"/>
          </p:cNvSpPr>
          <p:nvPr/>
        </p:nvSpPr>
        <p:spPr>
          <a:xfrm>
            <a:off x="3209925" y="9658350"/>
            <a:ext cx="2228850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179"/>
          </a:bodyPr>
          <a:lstStyle/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Results came from controlled experiments</a:t>
            </a:r>
          </a:p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Performance depends on temperature, concentration and contact time</a:t>
            </a:r>
          </a:p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Real effluent may contain competing pollutants</a:t>
            </a:r>
          </a:p>
          <a:p>
            <a:pPr algn="l">
              <a:def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• Industrial operation needs cost and safety assessment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xmlns="" id="{2CF4D1AA-8815-498F-8774-CF7194A86298}"/>
              </a:ext>
            </a:extLst>
          </p:cNvPr>
          <p:cNvSpPr>
            <a:spLocks noGrp="1"/>
          </p:cNvSpPr>
          <p:nvPr/>
        </p:nvSpPr>
        <p:spPr>
          <a:xfrm>
            <a:off x="5857875" y="9029700"/>
            <a:ext cx="2447925" cy="361950"/>
          </a:xfrm>
          <a:prstGeom prst="roundRect">
            <a:avLst>
              <a:gd name="adj" fmla="val 47368"/>
            </a:avLst>
          </a:prstGeom>
          <a:solidFill>
            <a:srgbClr val="145A3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11">
            <a:scrgbClr r="0" g="0" b="0"/>
          </a:effectRef>
          <a:fontRef idx="major"/>
        </p:style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xmlns="" id="{50A7101D-F579-478F-A1E4-CE3A44ECBE93}"/>
              </a:ext>
            </a:extLst>
          </p:cNvPr>
          <p:cNvSpPr>
            <a:spLocks noGrp="1"/>
          </p:cNvSpPr>
          <p:nvPr/>
        </p:nvSpPr>
        <p:spPr>
          <a:xfrm>
            <a:off x="5991225" y="9048750"/>
            <a:ext cx="21812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889"/>
          </a:bodyPr>
          <a:lstStyle/>
          <a:p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Conclusion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xmlns="" id="{AD12EE87-FD0A-4221-BB78-BD42D11A4943}"/>
              </a:ext>
            </a:extLst>
          </p:cNvPr>
          <p:cNvSpPr>
            <a:spLocks noGrp="1"/>
          </p:cNvSpPr>
          <p:nvPr/>
        </p:nvSpPr>
        <p:spPr>
          <a:xfrm>
            <a:off x="5857875" y="9486900"/>
            <a:ext cx="2447925" cy="1619250"/>
          </a:xfrm>
          <a:prstGeom prst="roundRect">
            <a:avLst>
              <a:gd name="adj" fmla="val 9412"/>
            </a:avLst>
          </a:prstGeom>
          <a:solidFill>
            <a:srgbClr val="E4EFDC"/>
          </a:solidFill>
          <a:ln w="19050">
            <a:solidFill>
              <a:srgbClr val="C7D8C3"/>
            </a:solidFill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xmlns="" id="{67F82ECC-C04B-4EE9-B3AD-F64203EA8301}"/>
              </a:ext>
            </a:extLst>
          </p:cNvPr>
          <p:cNvSpPr>
            <a:spLocks noGrp="1"/>
          </p:cNvSpPr>
          <p:nvPr/>
        </p:nvSpPr>
        <p:spPr>
          <a:xfrm>
            <a:off x="6076950" y="9677400"/>
            <a:ext cx="2019300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3596"/>
          </a:bodyPr>
          <a:lstStyle/>
          <a:p>
            <a:pPr algn="ctr">
              <a:def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202C28"/>
                </a:solidFill>
                <a:latin typeface="DejaVu Sans"/>
                <a:ea typeface="DejaVu Sans"/>
                <a:cs typeface="DejaVu Sans"/>
              </a:rPr>
              <a:t>Casuarina-seed biochar provides both an adsorptive surface and a support for A. faecalis. The hybrid method offers a promising route for treating methylene-blue wastewater, subject to validation with real industrial effluent.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xmlns="" id="{4DC89485-3B5E-40B7-B1F1-48D63A93F0E2}"/>
              </a:ext>
            </a:extLst>
          </p:cNvPr>
          <p:cNvSpPr>
            <a:spLocks noGrp="1"/>
          </p:cNvSpPr>
          <p:nvPr/>
        </p:nvSpPr>
        <p:spPr>
          <a:xfrm>
            <a:off x="0" y="11325225"/>
            <a:ext cx="8572500" cy="800100"/>
          </a:xfrm>
          <a:prstGeom prst="rect">
            <a:avLst/>
          </a:prstGeom>
          <a:solidFill>
            <a:srgbClr val="145A3A"/>
          </a:solidFill>
          <a:ln w="0">
            <a:noFill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xmlns="" id="{BE78CFAD-B748-4B8D-B5E4-ECA0006B8E5C}"/>
              </a:ext>
            </a:extLst>
          </p:cNvPr>
          <p:cNvSpPr>
            <a:spLocks noGrp="1"/>
          </p:cNvSpPr>
          <p:nvPr/>
        </p:nvSpPr>
        <p:spPr>
          <a:xfrm>
            <a:off x="357160" y="11491950"/>
            <a:ext cx="2667000" cy="328652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718"/>
          </a:bodyPr>
          <a:lstStyle/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975" b="1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(PRESENTED BY GROUP PRATHAM)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975" b="1" dirty="0" smtClean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SUMITED TO BALENDU SHEKAR GIRI</a:t>
            </a:r>
          </a:p>
          <a:p>
            <a:pPr algn="l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endParaRPr sz="975" b="1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C3D99783-2AA9-45E2-B9B9-232AA2CBB518}"/>
              </a:ext>
            </a:extLst>
          </p:cNvPr>
          <p:cNvSpPr>
            <a:spLocks noGrp="1"/>
          </p:cNvSpPr>
          <p:nvPr/>
        </p:nvSpPr>
        <p:spPr>
          <a:xfrm>
            <a:off x="5905500" y="11430000"/>
            <a:ext cx="24003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0">
                <a:solidFill>
                  <a:srgbClr val="DCE8DF"/>
                </a:solidFill>
                <a:latin typeface="DejaVu Sans"/>
                <a:ea typeface="DejaVu Sans"/>
                <a:cs typeface="DejaVu Sans"/>
              </a:defRPr>
            </a:pPr>
            <a:endParaRPr sz="750" b="0">
              <a:solidFill>
                <a:srgbClr val="DCE8D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082644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78545" dir="4557825">
              <a:srgbClr val="000000">
                <a:alpha val="12000"/>
              </a:srgbClr>
            </a:outerShdw>
          </a:effectLst>
        </a:effectStyle>
        <a:effectStyle>
          <a:effectLst>
            <a:outerShdw blurRad="57150" dist="30121" dir="4293903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0" dist="78545" dir="4557825">
              <a:srgbClr val="000000">
                <a:alpha val="12000"/>
              </a:srgbClr>
            </a:outerShdw>
          </a:effectLst>
        </a:effectStyle>
        <a:effectStyle>
          <a:effectLst>
            <a:outerShdw blurRad="57150" dist="30121" dir="4293903">
              <a:srgbClr val="000000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519</Words>
  <Application>Walnut Exporter</Application>
  <DocSecurity>0</DocSecurity>
  <PresentationFormat>Custom</PresentationFormat>
  <Paragraphs>85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ChatGPT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Pratham</cp:lastModifiedBy>
  <cp:revision>2</cp:revision>
  <dcterms:created xsi:type="dcterms:W3CDTF">2026-09-28T06:23:55Z</dcterms:created>
  <dcterms:modified xsi:type="dcterms:W3CDTF">2026-09-28T06:44:47Z</dcterms:modified>
</cp:coreProperties>
</file>